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70" r:id="rId19"/>
    <p:sldId id="259" r:id="rId8"/>
    <p:sldId id="267" r:id="rId9"/>
    <p:sldId id="269" r:id="rId18"/>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0.xml"/><Relationship Id="rId19"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t>Runtime at maximum input size (milliseconds)</a:t>
            </a:r>
          </a:p>
        </c:rich>
      </c:tx>
      <c:layout/>
      <c:overlay val="0"/>
    </c:title>
    <c:autoTitleDeleted val="0"/>
    <c:plotArea>
      <c:barChart>
        <c:barDir val="col"/>
        <c:grouping val="clustered"/>
        <c:ser>
          <c:idx val="0"/>
          <c:order val="0"/>
          <c:tx>
            <c:strRef>
              <c:f>Sheet1!$B$1</c:f>
              <c:strCache>
                <c:ptCount val="1"/>
                <c:pt idx="0">
                  <c:v>Runtime (ms)</c:v>
                </c:pt>
              </c:strCache>
            </c:strRef>
          </c:tx>
          <c:spPr>
            <a:solidFill>
              <a:srgbClr val="C00000"/>
            </a:solidFill>
          </c:spPr>
          <c:cat>
            <c:strRef>
              <c:f>Sheet1!$A$2:$A$5</c:f>
              <c:strCache>
                <c:ptCount val="4"/>
                <c:pt idx="0">
                  <c:v>Vertex Cover (1000 V, 5000 E)</c:v>
                </c:pt>
                <c:pt idx="1">
                  <c:v>Set Cover (5000 elem., 1000 sets)</c:v>
                </c:pt>
                <c:pt idx="2">
                  <c:v>TSP, MST (500 cities)</c:v>
                </c:pt>
                <c:pt idx="3">
                  <c:v>Bin Packing FFD (5000 items)</c:v>
                </c:pt>
              </c:strCache>
            </c:strRef>
          </c:cat>
          <c:val>
            <c:numRef>
              <c:f>Sheet1!$B$2:$B$5</c:f>
              <c:numCache>
                <c:formatCode>General</c:formatCode>
                <c:ptCount val="4"/>
                <c:pt idx="0">
                  <c:v>0.29</c:v>
                </c:pt>
                <c:pt idx="1">
                  <c:v>581.4</c:v>
                </c:pt>
                <c:pt idx="2">
                  <c:v>34.0</c:v>
                </c:pt>
                <c:pt idx="3">
                  <c:v>129.8</c:v>
                </c:pt>
              </c:numCache>
            </c:numRef>
          </c:val>
        </c:ser>
        <c:dLbls>
          <c:numFmt formatCode="0.0#" sourceLinked="0"/>
          <c:txPr>
            <a:bodyPr/>
            <a:lstStyle/>
            <a:p>
              <a:pPr>
                <a:defRPr sz="14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delete val="0"/>
        <c:axPos val="l"/>
        <c:majorGridlines>
          <c:spPr>
            <a:ln>
              <a:solidFill>
                <a:srgbClr val="D9D9D9"/>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 </a:t>
            </a:r>
            <a:r>
              <a:rPr lang="en-US" sz="4000" b="1" u="sng" dirty="0">
                <a:solidFill>
                  <a:srgbClr val="C00000"/>
                </a:solidFill>
                <a:latin typeface="+mn-lt"/>
              </a:rPr>
              <a:t>NP-COMPLETE PROBLEMS TOOLKIT</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 and Roll numbers:-</a:t>
            </a:r>
          </a:p>
          <a:p>
            <a:r>
              <a:rPr lang="en-US" dirty="0">
                <a:solidFill>
                  <a:srgbClr val="0070C0"/>
                </a:solidFill>
              </a:rPr>
              <a:t>[Member 1 Name] – [Roll No.]</a:t>
            </a:r>
          </a:p>
          <a:p>
            <a:r>
              <a:rPr lang="en-US" dirty="0">
                <a:solidFill>
                  <a:srgbClr val="0070C0"/>
                </a:solidFill>
              </a:rPr>
              <a:t>[Member 2 Name] – [Roll No.]</a:t>
            </a:r>
          </a:p>
          <a:p>
            <a:r>
              <a:rPr lang="en-US" dirty="0">
                <a:solidFill>
                  <a:srgbClr val="0070C0"/>
                </a:solidFill>
              </a:rPr>
              <a:t>[Member 3 Name] – [Roll No.]</a:t>
            </a:r>
          </a:p>
          <a:p>
            <a:pPr marL="171450">
              <a:lnSpc>
                <a:spcPct val="107000"/>
              </a:lnSpc>
              <a:spcAft>
                <a:spcPts val="800"/>
              </a:spcAft>
            </a:pPr>
            <a:r>
              <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rPr>
              <a:t>Esteemed Guidance of</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pPr>
              <a:lnSpc>
                <a:spcPct val="107000"/>
              </a:lnSpc>
              <a:spcAft>
                <a:spcPts val="800"/>
              </a:spcAft>
            </a:pPr>
            <a:r>
              <a:rPr lang="en-IN" sz="1800" kern="100" dirty="0">
                <a:latin typeface="Calibri" panose="020F0502020204030204" pitchFamily="34" charset="0"/>
                <a:ea typeface="Calibri" panose="020F0502020204030204" pitchFamily="34" charset="0"/>
                <a:cs typeface="Gautami" panose="020B0502040204020203" pitchFamily="34" charset="0"/>
              </a:rPr>
              <a:t>DR CH.ANURADHA MAM</a:t>
            </a:r>
          </a:p>
          <a:p>
            <a:pPr>
              <a:lnSpc>
                <a:spcPct val="107000"/>
              </a:lnSpc>
              <a:spcAft>
                <a:spcPts val="800"/>
              </a:spcAft>
            </a:pPr>
            <a:r>
              <a:rPr lang="en-IN" sz="1800" kern="100">
                <a:latin typeface="Calibri" panose="020F0502020204030204" pitchFamily="34" charset="0"/>
                <a:ea typeface="Calibri" panose="020F0502020204030204" pitchFamily="34" charset="0"/>
                <a:cs typeface="Gautami" panose="020B0502040204020203" pitchFamily="34" charset="0"/>
              </a:rPr>
              <a:t>ASSISTANT PROFESSOR, CSE</a:t>
            </a:r>
            <a:endParaRPr lang="en-IN" sz="1800" kern="100" dirty="0">
              <a:latin typeface="Calibri" panose="020F0502020204030204" pitchFamily="34" charset="0"/>
              <a:ea typeface="Calibri" panose="020F0502020204030204" pitchFamily="34" charset="0"/>
              <a:cs typeface="Gautami" panose="020B0502040204020203" pitchFamily="34" charset="0"/>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 name="TextBox Body"/>
          <p:cNvSpPr txBox="1"/>
          <p:nvPr/>
        </p:nvSpPr>
        <p:spPr>
          <a:xfrm>
            <a:off x="1000000" y="1050000"/>
            <a:ext cx="10192000" cy="54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Many important problems, such as covering all links of a network with the fewest nodes, choosing the fewest subsets that cover all items, finding the shortest tour of many cities, or packing items into the fewest bins, are NP-complete: no known algorithm solves them exactly in polynomial time.</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This project builds an interactive toolkit that solves four classical NP-complete problems, Vertex Cover, Set Cover, the Traveling Salesman Problem (TSP) and Bin Packing, using both exact and approximation algorithms.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user selects a problem and an input size, runs both kinds of algorithm, and compares execution time, solution quality and approximation ratio.</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toolkit generates graphical performance reports that show how the approximation algorithms scale, for graphs up to 1000 vertices and 5000 edges and set systems up to 5000 elements and 1000 subsets, with a response time of at most 10 seconds.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Approximation algorithms return near-optimal answers with proven guarantees in a fraction of the time, which is why they are used in scheduling, logistics, network design and resource allocation.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 name="TextBox Body"/>
          <p:cNvSpPr txBox="1"/>
          <p:nvPr/>
        </p:nvSpPr>
        <p:spPr>
          <a:xfrm>
            <a:off x="1000000" y="1050000"/>
            <a:ext cx="10192000" cy="54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 problem is NP-complete if its solutions can be checked quickly but no fast method for finding an optimal solution is known; the time needed by exact algorithms grows exponentially with input size.</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Four classical examples are used here: Vertex Cover (fewest vertices touching every edge), Set Cover (fewest subsets covering all elements), TSP (shortest tour visiting every city once) and Bin Packing (fewest bins holding all items).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When exact methods become too slow, approximation algorithms are used. They run in polynomial time and guarantee a solution within a known factor of the optimum, called the approximation ratio.</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toolkit lets a user run an exact algorithm and an approximation algorithm on the same input and directly see the trade-off between running time and solution quality.</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It then produces graphs of execution time and approximation ratio for different input sizes, which makes the scalability of each approximation algorithm easy to analyze.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10" name="TextBox Body"/>
          <p:cNvSpPr txBox="1"/>
          <p:nvPr/>
        </p:nvSpPr>
        <p:spPr>
          <a:xfrm>
            <a:off x="1000000" y="1050000"/>
            <a:ext cx="10192000" cy="54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Cook (1971) and Karp (1972) established the theory of NP-completeness; Karp's list of 21 problems included Vertex Cover, Set Cover and the Hamiltonian cycle problem on which TSP is based.</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Held and Karp (1962) gave a dynamic programming algorithm for exact TSP in O(n² · 2ⁿ) time. For metric TSP, doubling a minimum spanning tree gives a 2-approximation (Rosenkrantz, Stearns and Lewis, 1977), and Christofides (1976) improved this to 1.5.</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For Vertex Cover, taking both endpoints of a maximal matching gives a 2-approximation. For Set Cover, the greedy algorithm (Johnson, 1974; Chvátal, 1979) achieves a ratio of H(n) ≈ ln n, and Feige (1998) showed this is close to the best possible.</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For Bin Packing, First Fit Decreasing uses at most 11/9 · OPT + 6/9 bins (Johnson, 1973; tight bound by Dósa, 2007). Garey and Johnson (1979) catalogued these and hundreds of other NP-complete problems.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These results underlie practical solvers for scheduling, logistics and network design; this toolkit lets users compare the theoretical guarantees with the performance actually observed.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Title"/>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 name="TextBox Body"/>
          <p:cNvSpPr txBox="1"/>
          <p:nvPr/>
        </p:nvSpPr>
        <p:spPr>
          <a:xfrm>
            <a:off x="1000000" y="1050000"/>
            <a:ext cx="10192000" cy="5400000"/>
          </a:xfrm>
          <a:prstGeom prst="rect">
            <a:avLst/>
          </a:prstGeom>
          <a:noFill/>
        </p:spPr>
        <p:txBody>
          <a:bodyPr wrap="square" rtlCol="0">
            <a:normAutofit/>
          </a:bodyPr>
          <a:lstStyle/>
          <a:p>
            <a:pPr marL="0" indent="0" algn="l">
              <a:lnSpc>
                <a:spcPct val="130000"/>
              </a:lnSpc>
              <a:spcAft>
                <a:spcPts val="600"/>
              </a:spcAft>
              <a:buNone/>
            </a:pPr>
            <a:r>
              <a:rPr lang="en-US" sz="2200" b="1" dirty="0">
                <a:solidFill>
                  <a:srgbClr val="000000"/>
                </a:solidFill>
                <a:latin typeface="Calibri" panose="020F0502020204030204" pitchFamily="34" charset="0"/>
              </a:rPr>
              <a:t>Problem Statement</a:t>
            </a:r>
          </a:p>
          <a:p>
            <a:pPr marL="342900" indent="-342900" algn="l">
              <a:lnSpc>
                <a:spcPct val="130000"/>
              </a:lnSpc>
              <a:spcAft>
                <a:spcPts val="1600"/>
              </a:spcAft>
              <a:buFont typeface="Arial" pitchFamily="34" charset="0"/>
              <a:buChar char="•"/>
            </a:pPr>
            <a:r>
              <a:rPr lang="en-US" sz="2000" dirty="0">
                <a:solidFill>
                  <a:srgbClr val="000000"/>
                </a:solidFill>
                <a:latin typeface="Calibri" panose="020F0502020204030204" pitchFamily="34" charset="0"/>
              </a:rPr>
              <a:t>NP-complete problems cannot be solved exactly in reasonable time as inputs grow, and it is hard to see how much solution quality is given up for speed when approximation algorithms are used instead.</a:t>
            </a:r>
          </a:p>
          <a:p>
            <a:pPr marL="0" indent="0" algn="l">
              <a:lnSpc>
                <a:spcPct val="130000"/>
              </a:lnSpc>
              <a:spcAft>
                <a:spcPts val="600"/>
              </a:spcAft>
              <a:buNone/>
            </a:pPr>
            <a:r>
              <a:rPr lang="en-US" sz="2200" b="1" dirty="0">
                <a:solidFill>
                  <a:srgbClr val="000000"/>
                </a:solidFill>
                <a:latin typeface="Calibri" panose="020F0502020204030204" pitchFamily="34" charset="0"/>
              </a:rPr>
              <a:t>Objectives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Implement exact and approximation algorithms for Vertex Cover, Set Cover, TSP and Bin Packing.</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Let the user choose a problem type, generate or enter an instance, and obtain an optimal or approximate solution.</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Compare execution time, solution quality and approximation ratio for different input sizes.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Generate graphical performance reports that show the scalability of the approximation algorithms.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Meet the limits: up to 1000 vertices and 5000 edges, 5000 elements and 1000 subsets, and a response time of at most 10 seconds.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1" name="Shape11"/>
          <p:cNvSpPr/>
          <p:nvPr/>
        </p:nvSpPr>
        <p:spPr>
          <a:xfrm>
            <a:off x="2000000" y="950000"/>
            <a:ext cx="3800000" cy="430000"/>
          </a:xfrm>
          <a:prstGeom prst="ellipse">
            <a:avLst/>
          </a:prstGeom>
          <a:solidFill>
            <a:srgbClr val="C00000"/>
          </a:solidFill>
          <a:ln w="19050">
            <a:solidFill>
              <a:srgbClr val="C00000"/>
            </a:solidFill>
          </a:ln>
        </p:spPr>
        <p:txBody>
          <a:bodyPr wrap="square" lIns="45720" tIns="22860" rIns="45720" bIns="22860" anchor="ctr">
            <a:normAutofit/>
          </a:bodyPr>
          <a:lstStyle/>
          <a:p>
            <a:pPr algn="ctr"/>
            <a:r>
              <a:rPr lang="en-US" sz="1600" dirty="0">
                <a:solidFill>
                  <a:srgbClr val="FFFFFF"/>
                </a:solidFill>
                <a:latin typeface="Calibri" pitchFamily="34" charset="0"/>
              </a:rPr>
              <a:t>Start</a:t>
            </a:r>
          </a:p>
        </p:txBody>
      </p:sp>
      <p:cxnSp>
        <p:nvCxnSpPr>
          <p:cNvPr id="12" name="Connector12"/>
          <p:cNvCxnSpPr/>
          <p:nvPr/>
        </p:nvCxnSpPr>
        <p:spPr>
          <a:xfrm>
            <a:off x="3900000" y="1380000"/>
            <a:ext cx="1" cy="18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Shape13"/>
          <p:cNvSpPr/>
          <p:nvPr/>
        </p:nvSpPr>
        <p:spPr>
          <a:xfrm>
            <a:off x="2000000" y="1560000"/>
            <a:ext cx="3800000" cy="480000"/>
          </a:xfrm>
          <a:prstGeom prst="rect">
            <a:avLst/>
          </a:prstGeom>
          <a:solidFill>
            <a:srgbClr val="FFFFFF"/>
          </a:solidFill>
          <a:ln w="19050">
            <a:solidFill>
              <a:srgbClr val="C00000"/>
            </a:solidFill>
          </a:ln>
        </p:spPr>
        <p:txBody>
          <a:bodyPr wrap="square" lIns="45720" tIns="22860" rIns="45720" bIns="22860" anchor="ctr">
            <a:normAutofit/>
          </a:bodyPr>
          <a:lstStyle/>
          <a:p>
            <a:pPr algn="ctr"/>
            <a:r>
              <a:rPr lang="en-US" sz="1300" dirty="0">
                <a:solidFill>
                  <a:srgbClr val="000000"/>
                </a:solidFill>
                <a:latin typeface="Calibri" pitchFamily="34" charset="0"/>
              </a:rPr>
              <a:t>Select problem; load or generate an input instance</a:t>
            </a:r>
          </a:p>
        </p:txBody>
      </p:sp>
      <p:cxnSp>
        <p:nvCxnSpPr>
          <p:cNvPr id="14" name="Connector14"/>
          <p:cNvCxnSpPr/>
          <p:nvPr/>
        </p:nvCxnSpPr>
        <p:spPr>
          <a:xfrm>
            <a:off x="3900000" y="2040000"/>
            <a:ext cx="1" cy="18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15" name="Shape15"/>
          <p:cNvSpPr/>
          <p:nvPr/>
        </p:nvSpPr>
        <p:spPr>
          <a:xfrm>
            <a:off x="2000000" y="2220000"/>
            <a:ext cx="3800000" cy="430000"/>
          </a:xfrm>
          <a:prstGeom prst="rect">
            <a:avLst/>
          </a:prstGeom>
          <a:solidFill>
            <a:srgbClr val="FFFFFF"/>
          </a:solidFill>
          <a:ln w="19050">
            <a:solidFill>
              <a:srgbClr val="C00000"/>
            </a:solidFill>
          </a:ln>
        </p:spPr>
        <p:txBody>
          <a:bodyPr wrap="square" lIns="45720" tIns="22860" rIns="45720" bIns="22860" anchor="ctr">
            <a:normAutofit/>
          </a:bodyPr>
          <a:lstStyle/>
          <a:p>
            <a:pPr algn="ctr"/>
            <a:r>
              <a:rPr lang="en-US" sz="1300" dirty="0">
                <a:solidFill>
                  <a:srgbClr val="000000"/>
                </a:solidFill>
                <a:latin typeface="Calibri" pitchFamily="34" charset="0"/>
              </a:rPr>
              <a:t>Choose the exact and approximation algorithms</a:t>
            </a:r>
          </a:p>
        </p:txBody>
      </p:sp>
      <p:cxnSp>
        <p:nvCxnSpPr>
          <p:cNvPr id="16" name="Connector16"/>
          <p:cNvCxnSpPr/>
          <p:nvPr/>
        </p:nvCxnSpPr>
        <p:spPr>
          <a:xfrm>
            <a:off x="3900000" y="2650000"/>
            <a:ext cx="1" cy="18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17" name="Shape17"/>
          <p:cNvSpPr/>
          <p:nvPr/>
        </p:nvSpPr>
        <p:spPr>
          <a:xfrm>
            <a:off x="2000000" y="2830000"/>
            <a:ext cx="3800000" cy="480000"/>
          </a:xfrm>
          <a:prstGeom prst="rect">
            <a:avLst/>
          </a:prstGeom>
          <a:solidFill>
            <a:srgbClr val="FFFFFF"/>
          </a:solidFill>
          <a:ln w="19050">
            <a:solidFill>
              <a:srgbClr val="C00000"/>
            </a:solidFill>
          </a:ln>
        </p:spPr>
        <p:txBody>
          <a:bodyPr wrap="square" lIns="45720" tIns="22860" rIns="45720" bIns="22860" anchor="ctr">
            <a:normAutofit/>
          </a:bodyPr>
          <a:lstStyle/>
          <a:p>
            <a:pPr algn="ctr"/>
            <a:r>
              <a:rPr lang="en-US" sz="1300" dirty="0">
                <a:solidFill>
                  <a:srgbClr val="000000"/>
                </a:solidFill>
                <a:latin typeface="Calibri" pitchFamily="34" charset="0"/>
              </a:rPr>
              <a:t>Run both algorithms; record time and solution cost</a:t>
            </a:r>
          </a:p>
        </p:txBody>
      </p:sp>
      <p:cxnSp>
        <p:nvCxnSpPr>
          <p:cNvPr id="18" name="Connector18"/>
          <p:cNvCxnSpPr/>
          <p:nvPr/>
        </p:nvCxnSpPr>
        <p:spPr>
          <a:xfrm>
            <a:off x="3900000" y="3310000"/>
            <a:ext cx="1" cy="18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19" name="Shape19"/>
          <p:cNvSpPr/>
          <p:nvPr/>
        </p:nvSpPr>
        <p:spPr>
          <a:xfrm>
            <a:off x="2350000" y="3490000"/>
            <a:ext cx="3100000" cy="780000"/>
          </a:xfrm>
          <a:prstGeom prst="diamond">
            <a:avLst/>
          </a:prstGeom>
          <a:solidFill>
            <a:srgbClr val="FFF2F2"/>
          </a:solidFill>
          <a:ln w="19050">
            <a:solidFill>
              <a:srgbClr val="C00000"/>
            </a:solidFill>
          </a:ln>
        </p:spPr>
        <p:txBody>
          <a:bodyPr wrap="square" lIns="45720" tIns="22860" rIns="45720" bIns="22860" anchor="ctr">
            <a:normAutofit fontScale="92500" lnSpcReduction="10000"/>
          </a:bodyPr>
          <a:lstStyle/>
          <a:p>
            <a:pPr algn="ctr"/>
            <a:r>
              <a:rPr lang="en-US" sz="1300" dirty="0">
                <a:solidFill>
                  <a:srgbClr val="000000"/>
                </a:solidFill>
                <a:latin typeface="Calibri" pitchFamily="34" charset="0"/>
              </a:rPr>
              <a:t>More input sizes to test?</a:t>
            </a:r>
          </a:p>
        </p:txBody>
      </p:sp>
      <p:cxnSp>
        <p:nvCxnSpPr>
          <p:cNvPr id="20" name="Connector20"/>
          <p:cNvCxnSpPr/>
          <p:nvPr/>
        </p:nvCxnSpPr>
        <p:spPr>
          <a:xfrm>
            <a:off x="3900000" y="4270000"/>
            <a:ext cx="1" cy="35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21" name="Label21"/>
          <p:cNvSpPr txBox="1"/>
          <p:nvPr/>
        </p:nvSpPr>
        <p:spPr>
          <a:xfrm>
            <a:off x="4020000" y="4310000"/>
            <a:ext cx="700000" cy="350000"/>
          </a:xfrm>
          <a:prstGeom prst="rect">
            <a:avLst/>
          </a:prstGeom>
          <a:noFill/>
        </p:spPr>
        <p:txBody>
          <a:bodyPr wrap="none" anchor="ctr"/>
          <a:lstStyle/>
          <a:p>
            <a:pPr algn="ctr"/>
            <a:r>
              <a:rPr lang="en-US" sz="1200" b="1" dirty="0">
                <a:solidFill>
                  <a:srgbClr val="C00000"/>
                </a:solidFill>
                <a:latin typeface="Calibri" pitchFamily="34" charset="0"/>
              </a:rPr>
              <a:t>Yes</a:t>
            </a:r>
          </a:p>
        </p:txBody>
      </p:sp>
      <p:sp>
        <p:nvSpPr>
          <p:cNvPr id="22" name="Shape22"/>
          <p:cNvSpPr/>
          <p:nvPr/>
        </p:nvSpPr>
        <p:spPr>
          <a:xfrm>
            <a:off x="2000000" y="4620000"/>
            <a:ext cx="3800000" cy="480000"/>
          </a:xfrm>
          <a:prstGeom prst="rect">
            <a:avLst/>
          </a:prstGeom>
          <a:solidFill>
            <a:srgbClr val="FFFFFF"/>
          </a:solidFill>
          <a:ln w="19050">
            <a:solidFill>
              <a:srgbClr val="C00000"/>
            </a:solidFill>
          </a:ln>
        </p:spPr>
        <p:txBody>
          <a:bodyPr wrap="square" lIns="45720" tIns="22860" rIns="45720" bIns="22860" anchor="ctr">
            <a:normAutofit/>
          </a:bodyPr>
          <a:lstStyle/>
          <a:p>
            <a:pPr algn="ctr"/>
            <a:r>
              <a:rPr lang="en-US" sz="1300" dirty="0">
                <a:solidFill>
                  <a:srgbClr val="000000"/>
                </a:solidFill>
                <a:latin typeface="Calibri" pitchFamily="34" charset="0"/>
              </a:rPr>
              <a:t>Increase input size; generate the next instance</a:t>
            </a:r>
          </a:p>
        </p:txBody>
      </p:sp>
      <p:cxnSp>
        <p:nvCxnSpPr>
          <p:cNvPr id="23" name="Connector23"/>
          <p:cNvCxnSpPr/>
          <p:nvPr/>
        </p:nvCxnSpPr>
        <p:spPr>
          <a:xfrm>
            <a:off x="900000" y="4860000"/>
            <a:ext cx="1100000" cy="1"/>
          </a:xfrm>
          <a:prstGeom prst="line">
            <a:avLst/>
          </a:prstGeom>
          <a:ln w="19050">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24" name="Connector24"/>
          <p:cNvCxnSpPr/>
          <p:nvPr/>
        </p:nvCxnSpPr>
        <p:spPr>
          <a:xfrm>
            <a:off x="900000" y="3070000"/>
            <a:ext cx="1" cy="1790000"/>
          </a:xfrm>
          <a:prstGeom prst="line">
            <a:avLst/>
          </a:prstGeom>
          <a:ln w="19050">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25" name="Connector25"/>
          <p:cNvCxnSpPr/>
          <p:nvPr/>
        </p:nvCxnSpPr>
        <p:spPr>
          <a:xfrm>
            <a:off x="900000" y="3070000"/>
            <a:ext cx="1100000" cy="1"/>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26" name="Label26"/>
          <p:cNvSpPr txBox="1"/>
          <p:nvPr/>
        </p:nvSpPr>
        <p:spPr>
          <a:xfrm>
            <a:off x="220000" y="3790000"/>
            <a:ext cx="900000" cy="350000"/>
          </a:xfrm>
          <a:prstGeom prst="rect">
            <a:avLst/>
          </a:prstGeom>
          <a:noFill/>
        </p:spPr>
        <p:txBody>
          <a:bodyPr wrap="none" anchor="ctr"/>
          <a:lstStyle/>
          <a:p>
            <a:pPr algn="ctr"/>
            <a:r>
              <a:rPr lang="en-US" sz="1100" b="1" dirty="0">
                <a:solidFill>
                  <a:srgbClr val="C00000"/>
                </a:solidFill>
                <a:latin typeface="Calibri" pitchFamily="34" charset="0"/>
              </a:rPr>
              <a:t>repeat</a:t>
            </a:r>
          </a:p>
        </p:txBody>
      </p:sp>
      <p:cxnSp>
        <p:nvCxnSpPr>
          <p:cNvPr id="27" name="Connector27"/>
          <p:cNvCxnSpPr/>
          <p:nvPr/>
        </p:nvCxnSpPr>
        <p:spPr>
          <a:xfrm>
            <a:off x="5450000" y="3880000"/>
            <a:ext cx="2550000" cy="1"/>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28" name="Label28"/>
          <p:cNvSpPr txBox="1"/>
          <p:nvPr/>
        </p:nvSpPr>
        <p:spPr>
          <a:xfrm>
            <a:off x="6525000" y="3460000"/>
            <a:ext cx="600000" cy="350000"/>
          </a:xfrm>
          <a:prstGeom prst="rect">
            <a:avLst/>
          </a:prstGeom>
          <a:noFill/>
        </p:spPr>
        <p:txBody>
          <a:bodyPr wrap="none" anchor="ctr"/>
          <a:lstStyle/>
          <a:p>
            <a:pPr algn="ctr"/>
            <a:r>
              <a:rPr lang="en-US" sz="1200" b="1" dirty="0">
                <a:solidFill>
                  <a:srgbClr val="C00000"/>
                </a:solidFill>
                <a:latin typeface="Calibri" pitchFamily="34" charset="0"/>
              </a:rPr>
              <a:t>No</a:t>
            </a:r>
          </a:p>
        </p:txBody>
      </p:sp>
      <p:sp>
        <p:nvSpPr>
          <p:cNvPr id="29" name="Shape29"/>
          <p:cNvSpPr/>
          <p:nvPr/>
        </p:nvSpPr>
        <p:spPr>
          <a:xfrm>
            <a:off x="8000000" y="3490000"/>
            <a:ext cx="3400000" cy="780000"/>
          </a:xfrm>
          <a:prstGeom prst="rect">
            <a:avLst/>
          </a:prstGeom>
          <a:solidFill>
            <a:srgbClr val="FFFFFF"/>
          </a:solidFill>
          <a:ln w="19050">
            <a:solidFill>
              <a:srgbClr val="C00000"/>
            </a:solidFill>
          </a:ln>
        </p:spPr>
        <p:txBody>
          <a:bodyPr wrap="square" lIns="45720" tIns="22860" rIns="45720" bIns="22860" anchor="ctr">
            <a:normAutofit/>
          </a:bodyPr>
          <a:lstStyle/>
          <a:p>
            <a:pPr algn="ctr"/>
            <a:r>
              <a:rPr lang="en-US" sz="1300" dirty="0">
                <a:solidFill>
                  <a:srgbClr val="000000"/>
                </a:solidFill>
                <a:latin typeface="Calibri" pitchFamily="34" charset="0"/>
              </a:rPr>
              <a:t>Compute approximation ratios; plot time and quality graphs</a:t>
            </a:r>
          </a:p>
        </p:txBody>
      </p:sp>
      <p:cxnSp>
        <p:nvCxnSpPr>
          <p:cNvPr id="30" name="Connector30"/>
          <p:cNvCxnSpPr/>
          <p:nvPr/>
        </p:nvCxnSpPr>
        <p:spPr>
          <a:xfrm>
            <a:off x="9700000" y="4270000"/>
            <a:ext cx="1" cy="380000"/>
          </a:xfrm>
          <a:prstGeom prst="line">
            <a:avLst/>
          </a:prstGeom>
          <a:ln w="19050">
            <a:solidFill>
              <a:srgbClr val="595959"/>
            </a:solidFill>
            <a:tailEnd type="triangle" w="med" len="med"/>
          </a:ln>
        </p:spPr>
        <p:style>
          <a:lnRef idx="1">
            <a:schemeClr val="accent1"/>
          </a:lnRef>
          <a:fillRef idx="0">
            <a:schemeClr val="accent1"/>
          </a:fillRef>
          <a:effectRef idx="0">
            <a:schemeClr val="accent1"/>
          </a:effectRef>
          <a:fontRef idx="minor">
            <a:schemeClr val="tx1"/>
          </a:fontRef>
        </p:style>
      </p:cxnSp>
      <p:sp>
        <p:nvSpPr>
          <p:cNvPr id="31" name="Shape31"/>
          <p:cNvSpPr/>
          <p:nvPr/>
        </p:nvSpPr>
        <p:spPr>
          <a:xfrm>
            <a:off x="8000000" y="4650000"/>
            <a:ext cx="3400000" cy="430000"/>
          </a:xfrm>
          <a:prstGeom prst="ellipse">
            <a:avLst/>
          </a:prstGeom>
          <a:solidFill>
            <a:srgbClr val="C00000"/>
          </a:solidFill>
          <a:ln w="19050">
            <a:solidFill>
              <a:srgbClr val="C00000"/>
            </a:solidFill>
          </a:ln>
        </p:spPr>
        <p:txBody>
          <a:bodyPr wrap="square" lIns="45720" tIns="22860" rIns="45720" bIns="22860" anchor="ctr">
            <a:normAutofit/>
          </a:bodyPr>
          <a:lstStyle/>
          <a:p>
            <a:pPr algn="ctr"/>
            <a:r>
              <a:rPr lang="en-US" sz="1600" dirty="0">
                <a:solidFill>
                  <a:srgbClr val="FFFFFF"/>
                </a:solidFill>
                <a:latin typeface="Calibri" pitchFamily="34" charset="0"/>
              </a:rPr>
              <a:t>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a:t>
            </a:r>
          </a:p>
        </p:txBody>
      </p:sp>
      <p:sp>
        <p:nvSpPr>
          <p:cNvPr id="10" name="TextBox Intro"/>
          <p:cNvSpPr txBox="1"/>
          <p:nvPr/>
        </p:nvSpPr>
        <p:spPr>
          <a:xfrm>
            <a:off x="1000000" y="1050000"/>
            <a:ext cx="10192000" cy="9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Each approximation algorithm was compared with its exact algorithm on small random instances (10 trials per problem); the ratio is approximate cost divided by optimal cost.</a:t>
            </a:r>
          </a:p>
        </p:txBody>
      </p:sp>
      <p:sp>
        <p:nvSpPr>
          <p:cNvPr id="11" name="TextBox Note"/>
          <p:cNvSpPr txBox="1"/>
          <p:nvPr/>
        </p:nvSpPr>
        <p:spPr>
          <a:xfrm>
            <a:off x="1000000" y="5000000"/>
            <a:ext cx="10192000" cy="1300000"/>
          </a:xfrm>
          <a:prstGeom prst="rect">
            <a:avLst/>
          </a:prstGeom>
          <a:noFill/>
        </p:spPr>
        <p:txBody>
          <a:bodyPr wrap="square" rtlCol="0">
            <a:normAutofit/>
          </a:bodyPr>
          <a:lstStyle/>
          <a:p>
            <a:pPr marL="342900" indent="-342900" algn="l">
              <a:lnSpc>
                <a:spcPct val="130000"/>
              </a:lnSpc>
              <a:spcAft>
                <a:spcPts val="0"/>
              </a:spcAft>
              <a:buFont typeface="Arial" pitchFamily="34" charset="0"/>
              <a:buChar char="•"/>
            </a:pPr>
            <a:r>
              <a:rPr lang="en-US" sz="2000" dirty="0">
                <a:solidFill>
                  <a:srgbClr val="000000"/>
                </a:solidFill>
                <a:latin typeface="Calibri" panose="020F0502020204030204" pitchFamily="34" charset="0"/>
              </a:rPr>
              <a:t>Observed ratios stayed well below the theoretical guarantees. Exact TSP time grew from 0.4 ms at 8 cities to 172 ms at 15 cities, while the approximation ran in under a millisecond.</a:t>
            </a:r>
          </a:p>
        </p:txBody>
      </p:sp>
      <p:graphicFrame>
        <p:nvGraphicFramePr>
          <p:cNvPr id="12" name="Table Results"/>
          <p:cNvGraphicFramePr>
            <a:graphicFrameLocks noGrp="1"/>
          </p:cNvGraphicFramePr>
          <p:nvPr/>
        </p:nvGraphicFramePr>
        <p:xfrm>
          <a:off x="1000000" y="2000000"/>
          <a:ext cx="10192000" cy="2820000"/>
        </p:xfrm>
        <a:graphic>
          <a:graphicData uri="http://schemas.openxmlformats.org/drawingml/2006/table">
            <a:tbl>
              <a:tblPr firstRow="1" bandRow="1">
                <a:tableStyleId>{5C22544A-7EE6-4342-B048-85BDC9FD1C3A}</a:tableStyleId>
              </a:tblPr>
              <a:tblGrid>
                <a:gridCol w="4500000"/>
                <a:gridCol w="1700000"/>
                <a:gridCol w="1800000"/>
                <a:gridCol w="2192000"/>
              </a:tblGrid>
              <a:tr h="470000">
                <a:tc>
                  <a:txBody>
                    <a:bodyPr/>
                    <a:lstStyle/>
                    <a:p>
                      <a:pPr algn="ctr"/>
                      <a:r>
                        <a:rPr sz="1600" b="1">
                          <a:solidFill>
                            <a:srgbClr val="FFFFFF"/>
                          </a:solidFill>
                          <a:latin typeface="Calibri"/>
                        </a:rPr>
                        <a:t>Problem (instance size)</a:t>
                      </a:r>
                    </a:p>
                  </a:txBody>
                  <a:tcPr anchor="ctr">
                    <a:solidFill>
                      <a:srgbClr val="C00000"/>
                    </a:solidFill>
                  </a:tcPr>
                </a:tc>
                <a:tc>
                  <a:txBody>
                    <a:bodyPr/>
                    <a:lstStyle/>
                    <a:p>
                      <a:pPr algn="ctr"/>
                      <a:r>
                        <a:rPr sz="1600" b="1">
                          <a:solidFill>
                            <a:srgbClr val="FFFFFF"/>
                          </a:solidFill>
                          <a:latin typeface="Calibri"/>
                        </a:rPr>
                        <a:t>Avg. ratio</a:t>
                      </a:r>
                    </a:p>
                  </a:txBody>
                  <a:tcPr anchor="ctr">
                    <a:solidFill>
                      <a:srgbClr val="C00000"/>
                    </a:solidFill>
                  </a:tcPr>
                </a:tc>
                <a:tc>
                  <a:txBody>
                    <a:bodyPr/>
                    <a:lstStyle/>
                    <a:p>
                      <a:pPr algn="ctr"/>
                      <a:r>
                        <a:rPr sz="1600" b="1">
                          <a:solidFill>
                            <a:srgbClr val="FFFFFF"/>
                          </a:solidFill>
                          <a:latin typeface="Calibri"/>
                        </a:rPr>
                        <a:t>Worst ratio</a:t>
                      </a:r>
                    </a:p>
                  </a:txBody>
                  <a:tcPr anchor="ctr">
                    <a:solidFill>
                      <a:srgbClr val="C00000"/>
                    </a:solidFill>
                  </a:tcPr>
                </a:tc>
                <a:tc>
                  <a:txBody>
                    <a:bodyPr/>
                    <a:lstStyle/>
                    <a:p>
                      <a:pPr algn="ctr"/>
                      <a:r>
                        <a:rPr sz="1600" b="1">
                          <a:solidFill>
                            <a:srgbClr val="FFFFFF"/>
                          </a:solidFill>
                          <a:latin typeface="Calibri"/>
                        </a:rPr>
                        <a:t>Guarantee</a:t>
                      </a:r>
                    </a:p>
                  </a:txBody>
                  <a:tcPr anchor="ctr">
                    <a:solidFill>
                      <a:srgbClr val="C00000"/>
                    </a:solidFill>
                  </a:tcPr>
                </a:tc>
              </a:tr>
              <a:tr h="470000">
                <a:tc>
                  <a:txBody>
                    <a:bodyPr/>
                    <a:lstStyle/>
                    <a:p>
                      <a:pPr algn="ctr"/>
                      <a:r>
                        <a:rPr sz="1600">
                          <a:solidFill>
                            <a:srgbClr val="000000"/>
                          </a:solidFill>
                          <a:latin typeface="Calibri"/>
                        </a:rPr>
                        <a:t>Vertex Cover (22 vertices, 45 edges)</a:t>
                      </a:r>
                    </a:p>
                  </a:txBody>
                  <a:tcPr anchor="ctr">
                    <a:solidFill>
                      <a:srgbClr val="FFFFFF"/>
                    </a:solidFill>
                  </a:tcPr>
                </a:tc>
                <a:tc>
                  <a:txBody>
                    <a:bodyPr/>
                    <a:lstStyle/>
                    <a:p>
                      <a:pPr algn="ctr"/>
                      <a:r>
                        <a:rPr sz="1600">
                          <a:solidFill>
                            <a:srgbClr val="000000"/>
                          </a:solidFill>
                          <a:latin typeface="Calibri"/>
                        </a:rPr>
                        <a:t>1.46</a:t>
                      </a:r>
                    </a:p>
                  </a:txBody>
                  <a:tcPr anchor="ctr">
                    <a:solidFill>
                      <a:srgbClr val="FFFFFF"/>
                    </a:solidFill>
                  </a:tcPr>
                </a:tc>
                <a:tc>
                  <a:txBody>
                    <a:bodyPr/>
                    <a:lstStyle/>
                    <a:p>
                      <a:pPr algn="ctr"/>
                      <a:r>
                        <a:rPr sz="1600">
                          <a:solidFill>
                            <a:srgbClr val="000000"/>
                          </a:solidFill>
                          <a:latin typeface="Calibri"/>
                        </a:rPr>
                        <a:t>1.67</a:t>
                      </a:r>
                    </a:p>
                  </a:txBody>
                  <a:tcPr anchor="ctr">
                    <a:solidFill>
                      <a:srgbClr val="FFFFFF"/>
                    </a:solidFill>
                  </a:tcPr>
                </a:tc>
                <a:tc>
                  <a:txBody>
                    <a:bodyPr/>
                    <a:lstStyle/>
                    <a:p>
                      <a:pPr algn="ctr"/>
                      <a:r>
                        <a:rPr sz="1600">
                          <a:solidFill>
                            <a:srgbClr val="000000"/>
                          </a:solidFill>
                          <a:latin typeface="Calibri"/>
                        </a:rPr>
                        <a:t>2</a:t>
                      </a:r>
                    </a:p>
                  </a:txBody>
                  <a:tcPr anchor="ctr">
                    <a:solidFill>
                      <a:srgbClr val="FFFFFF"/>
                    </a:solidFill>
                  </a:tcPr>
                </a:tc>
              </a:tr>
              <a:tr h="470000">
                <a:tc>
                  <a:txBody>
                    <a:bodyPr/>
                    <a:lstStyle/>
                    <a:p>
                      <a:pPr algn="ctr"/>
                      <a:r>
                        <a:rPr sz="1600">
                          <a:solidFill>
                            <a:srgbClr val="000000"/>
                          </a:solidFill>
                          <a:latin typeface="Calibri"/>
                        </a:rPr>
                        <a:t>Set Cover (40 elements, 30 subsets)</a:t>
                      </a:r>
                    </a:p>
                  </a:txBody>
                  <a:tcPr anchor="ctr">
                    <a:solidFill>
                      <a:srgbClr val="FFFFFF"/>
                    </a:solidFill>
                  </a:tcPr>
                </a:tc>
                <a:tc>
                  <a:txBody>
                    <a:bodyPr/>
                    <a:lstStyle/>
                    <a:p>
                      <a:pPr algn="ctr"/>
                      <a:r>
                        <a:rPr sz="1600">
                          <a:solidFill>
                            <a:srgbClr val="000000"/>
                          </a:solidFill>
                          <a:latin typeface="Calibri"/>
                        </a:rPr>
                        <a:t>1.11</a:t>
                      </a:r>
                    </a:p>
                  </a:txBody>
                  <a:tcPr anchor="ctr">
                    <a:solidFill>
                      <a:srgbClr val="FFFFFF"/>
                    </a:solidFill>
                  </a:tcPr>
                </a:tc>
                <a:tc>
                  <a:txBody>
                    <a:bodyPr/>
                    <a:lstStyle/>
                    <a:p>
                      <a:pPr algn="ctr"/>
                      <a:r>
                        <a:rPr sz="1600">
                          <a:solidFill>
                            <a:srgbClr val="000000"/>
                          </a:solidFill>
                          <a:latin typeface="Calibri"/>
                        </a:rPr>
                        <a:t>1.25</a:t>
                      </a:r>
                    </a:p>
                  </a:txBody>
                  <a:tcPr anchor="ctr">
                    <a:solidFill>
                      <a:srgbClr val="FFFFFF"/>
                    </a:solidFill>
                  </a:tcPr>
                </a:tc>
                <a:tc>
                  <a:txBody>
                    <a:bodyPr/>
                    <a:lstStyle/>
                    <a:p>
                      <a:pPr algn="ctr"/>
                      <a:r>
                        <a:rPr sz="1600">
                          <a:solidFill>
                            <a:srgbClr val="000000"/>
                          </a:solidFill>
                          <a:latin typeface="Calibri"/>
                        </a:rPr>
                        <a:t>H(n)</a:t>
                      </a:r>
                    </a:p>
                  </a:txBody>
                  <a:tcPr anchor="ctr">
                    <a:solidFill>
                      <a:srgbClr val="FFFFFF"/>
                    </a:solidFill>
                  </a:tcPr>
                </a:tc>
              </a:tr>
              <a:tr h="470000">
                <a:tc>
                  <a:txBody>
                    <a:bodyPr/>
                    <a:lstStyle/>
                    <a:p>
                      <a:pPr algn="ctr"/>
                      <a:r>
                        <a:rPr sz="1600">
                          <a:solidFill>
                            <a:srgbClr val="000000"/>
                          </a:solidFill>
                          <a:latin typeface="Calibri"/>
                        </a:rPr>
                        <a:t>TSP, MST doubling (13 cities)</a:t>
                      </a:r>
                    </a:p>
                  </a:txBody>
                  <a:tcPr anchor="ctr">
                    <a:solidFill>
                      <a:srgbClr val="FFFFFF"/>
                    </a:solidFill>
                  </a:tcPr>
                </a:tc>
                <a:tc>
                  <a:txBody>
                    <a:bodyPr/>
                    <a:lstStyle/>
                    <a:p>
                      <a:pPr algn="ctr"/>
                      <a:r>
                        <a:rPr sz="1600">
                          <a:solidFill>
                            <a:srgbClr val="000000"/>
                          </a:solidFill>
                          <a:latin typeface="Calibri"/>
                        </a:rPr>
                        <a:t>1.14</a:t>
                      </a:r>
                    </a:p>
                  </a:txBody>
                  <a:tcPr anchor="ctr">
                    <a:solidFill>
                      <a:srgbClr val="FFFFFF"/>
                    </a:solidFill>
                  </a:tcPr>
                </a:tc>
                <a:tc>
                  <a:txBody>
                    <a:bodyPr/>
                    <a:lstStyle/>
                    <a:p>
                      <a:pPr algn="ctr"/>
                      <a:r>
                        <a:rPr sz="1600">
                          <a:solidFill>
                            <a:srgbClr val="000000"/>
                          </a:solidFill>
                          <a:latin typeface="Calibri"/>
                        </a:rPr>
                        <a:t>1.27</a:t>
                      </a:r>
                    </a:p>
                  </a:txBody>
                  <a:tcPr anchor="ctr">
                    <a:solidFill>
                      <a:srgbClr val="FFFFFF"/>
                    </a:solidFill>
                  </a:tcPr>
                </a:tc>
                <a:tc>
                  <a:txBody>
                    <a:bodyPr/>
                    <a:lstStyle/>
                    <a:p>
                      <a:pPr algn="ctr"/>
                      <a:r>
                        <a:rPr sz="1600">
                          <a:solidFill>
                            <a:srgbClr val="000000"/>
                          </a:solidFill>
                          <a:latin typeface="Calibri"/>
                        </a:rPr>
                        <a:t>2</a:t>
                      </a:r>
                    </a:p>
                  </a:txBody>
                  <a:tcPr anchor="ctr">
                    <a:solidFill>
                      <a:srgbClr val="FFFFFF"/>
                    </a:solidFill>
                  </a:tcPr>
                </a:tc>
              </a:tr>
              <a:tr h="470000">
                <a:tc>
                  <a:txBody>
                    <a:bodyPr/>
                    <a:lstStyle/>
                    <a:p>
                      <a:pPr algn="ctr"/>
                      <a:r>
                        <a:rPr sz="1600">
                          <a:solidFill>
                            <a:srgbClr val="000000"/>
                          </a:solidFill>
                          <a:latin typeface="Calibri"/>
                        </a:rPr>
                        <a:t>TSP, Nearest Neighbor (13 cities)</a:t>
                      </a:r>
                    </a:p>
                  </a:txBody>
                  <a:tcPr anchor="ctr">
                    <a:solidFill>
                      <a:srgbClr val="FFFFFF"/>
                    </a:solidFill>
                  </a:tcPr>
                </a:tc>
                <a:tc>
                  <a:txBody>
                    <a:bodyPr/>
                    <a:lstStyle/>
                    <a:p>
                      <a:pPr algn="ctr"/>
                      <a:r>
                        <a:rPr sz="1600">
                          <a:solidFill>
                            <a:srgbClr val="000000"/>
                          </a:solidFill>
                          <a:latin typeface="Calibri"/>
                        </a:rPr>
                        <a:t>1.08</a:t>
                      </a:r>
                    </a:p>
                  </a:txBody>
                  <a:tcPr anchor="ctr">
                    <a:solidFill>
                      <a:srgbClr val="FFFFFF"/>
                    </a:solidFill>
                  </a:tcPr>
                </a:tc>
                <a:tc>
                  <a:txBody>
                    <a:bodyPr/>
                    <a:lstStyle/>
                    <a:p>
                      <a:pPr algn="ctr"/>
                      <a:r>
                        <a:rPr sz="1600">
                          <a:solidFill>
                            <a:srgbClr val="000000"/>
                          </a:solidFill>
                          <a:latin typeface="Calibri"/>
                        </a:rPr>
                        <a:t>1.40</a:t>
                      </a:r>
                    </a:p>
                  </a:txBody>
                  <a:tcPr anchor="ctr">
                    <a:solidFill>
                      <a:srgbClr val="FFFFFF"/>
                    </a:solidFill>
                  </a:tcPr>
                </a:tc>
                <a:tc>
                  <a:txBody>
                    <a:bodyPr/>
                    <a:lstStyle/>
                    <a:p>
                      <a:pPr algn="ctr"/>
                      <a:r>
                        <a:rPr sz="1600">
                          <a:solidFill>
                            <a:srgbClr val="000000"/>
                          </a:solidFill>
                          <a:latin typeface="Calibri"/>
                        </a:rPr>
                        <a:t>O(log n)</a:t>
                      </a:r>
                    </a:p>
                  </a:txBody>
                  <a:tcPr anchor="ctr">
                    <a:solidFill>
                      <a:srgbClr val="FFFFFF"/>
                    </a:solidFill>
                  </a:tcPr>
                </a:tc>
              </a:tr>
              <a:tr h="470000">
                <a:tc>
                  <a:txBody>
                    <a:bodyPr/>
                    <a:lstStyle/>
                    <a:p>
                      <a:pPr algn="ctr"/>
                      <a:r>
                        <a:rPr sz="1600">
                          <a:solidFill>
                            <a:srgbClr val="000000"/>
                          </a:solidFill>
                          <a:latin typeface="Calibri"/>
                        </a:rPr>
                        <a:t>Bin Packing FFD (16 items)</a:t>
                      </a:r>
                    </a:p>
                  </a:txBody>
                  <a:tcPr anchor="ctr">
                    <a:solidFill>
                      <a:srgbClr val="FFFFFF"/>
                    </a:solidFill>
                  </a:tcPr>
                </a:tc>
                <a:tc>
                  <a:txBody>
                    <a:bodyPr/>
                    <a:lstStyle/>
                    <a:p>
                      <a:pPr algn="ctr"/>
                      <a:r>
                        <a:rPr sz="1600">
                          <a:solidFill>
                            <a:srgbClr val="000000"/>
                          </a:solidFill>
                          <a:latin typeface="Calibri"/>
                        </a:rPr>
                        <a:t>1.04</a:t>
                      </a:r>
                    </a:p>
                  </a:txBody>
                  <a:tcPr anchor="ctr">
                    <a:solidFill>
                      <a:srgbClr val="FFFFFF"/>
                    </a:solidFill>
                  </a:tcPr>
                </a:tc>
                <a:tc>
                  <a:txBody>
                    <a:bodyPr/>
                    <a:lstStyle/>
                    <a:p>
                      <a:pPr algn="ctr"/>
                      <a:r>
                        <a:rPr sz="1600">
                          <a:solidFill>
                            <a:srgbClr val="000000"/>
                          </a:solidFill>
                          <a:latin typeface="Calibri"/>
                        </a:rPr>
                        <a:t>1.20</a:t>
                      </a:r>
                    </a:p>
                  </a:txBody>
                  <a:tcPr anchor="ctr">
                    <a:solidFill>
                      <a:srgbClr val="FFFFFF"/>
                    </a:solidFill>
                  </a:tcPr>
                </a:tc>
                <a:tc>
                  <a:txBody>
                    <a:bodyPr/>
                    <a:lstStyle/>
                    <a:p>
                      <a:pPr algn="ctr"/>
                      <a:r>
                        <a:rPr sz="1600">
                          <a:solidFill>
                            <a:srgbClr val="000000"/>
                          </a:solidFill>
                          <a:latin typeface="Calibri"/>
                        </a:rPr>
                        <a:t>11/9 · OPT + 6/9</a:t>
                      </a:r>
                    </a:p>
                  </a:txBody>
                  <a:tcPr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p:cNvSpPr/>
          <p:nvPr/>
        </p:nvSpPr>
        <p:spPr>
          <a:xfrm>
            <a:off x="2896000" y="221673"/>
            <a:ext cx="64000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Algorithms Implemented</a:t>
            </a:r>
          </a:p>
        </p:txBody>
      </p:sp>
      <p:sp>
        <p:nvSpPr>
          <p:cNvPr id="10" name="TextBox Intro"/>
          <p:cNvSpPr txBox="1"/>
          <p:nvPr/>
        </p:nvSpPr>
        <p:spPr>
          <a:xfrm>
            <a:off x="1000000" y="1050000"/>
            <a:ext cx="10192000" cy="9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Each problem is solved by one exact and one approximation algorithm, so that results can be compared on the same input.</a:t>
            </a:r>
          </a:p>
        </p:txBody>
      </p:sp>
      <p:sp>
        <p:nvSpPr>
          <p:cNvPr id="11" name="TextBox Note"/>
          <p:cNvSpPr txBox="1"/>
          <p:nvPr/>
        </p:nvSpPr>
        <p:spPr>
          <a:xfrm>
            <a:off x="1000000" y="4950000"/>
            <a:ext cx="10192000" cy="1300000"/>
          </a:xfrm>
          <a:prstGeom prst="rect">
            <a:avLst/>
          </a:prstGeom>
          <a:noFill/>
        </p:spPr>
        <p:txBody>
          <a:bodyPr wrap="square" rtlCol="0">
            <a:normAutofit/>
          </a:bodyPr>
          <a:lstStyle/>
          <a:p>
            <a:pPr marL="342900" indent="-342900" algn="l">
              <a:lnSpc>
                <a:spcPct val="130000"/>
              </a:lnSpc>
              <a:spcAft>
                <a:spcPts val="0"/>
              </a:spcAft>
              <a:buFont typeface="Arial" pitchFamily="34" charset="0"/>
              <a:buChar char="•"/>
            </a:pPr>
            <a:r>
              <a:rPr lang="en-US" sz="2000" dirty="0">
                <a:solidFill>
                  <a:srgbClr val="000000"/>
                </a:solidFill>
                <a:latin typeface="Calibri" panose="020F0502020204030204" pitchFamily="34" charset="0"/>
              </a:rPr>
              <a:t>Exact algorithms are limited to small instances. The approximation ratio is computed as the approximate cost divided by the optimal cost.</a:t>
            </a:r>
          </a:p>
        </p:txBody>
      </p:sp>
      <p:graphicFrame>
        <p:nvGraphicFramePr>
          <p:cNvPr id="12" name="Table Results"/>
          <p:cNvGraphicFramePr>
            <a:graphicFrameLocks noGrp="1"/>
          </p:cNvGraphicFramePr>
          <p:nvPr/>
        </p:nvGraphicFramePr>
        <p:xfrm>
          <a:off x="1000000" y="2100000"/>
          <a:ext cx="10192000" cy="2600000"/>
        </p:xfrm>
        <a:graphic>
          <a:graphicData uri="http://schemas.openxmlformats.org/drawingml/2006/table">
            <a:tbl>
              <a:tblPr firstRow="1" bandRow="1">
                <a:tableStyleId>{5C22544A-7EE6-4342-B048-85BDC9FD1C3A}</a:tableStyleId>
              </a:tblPr>
              <a:tblGrid>
                <a:gridCol w="2100000"/>
                <a:gridCol w="2700000"/>
                <a:gridCol w="3300000"/>
                <a:gridCol w="2092000"/>
              </a:tblGrid>
              <a:tr h="520000">
                <a:tc>
                  <a:txBody>
                    <a:bodyPr/>
                    <a:lstStyle/>
                    <a:p>
                      <a:pPr algn="ctr"/>
                      <a:r>
                        <a:rPr sz="1700" b="1">
                          <a:solidFill>
                            <a:srgbClr val="FFFFFF"/>
                          </a:solidFill>
                          <a:latin typeface="Calibri"/>
                        </a:rPr>
                        <a:t>Problem</a:t>
                      </a:r>
                    </a:p>
                  </a:txBody>
                  <a:tcPr anchor="ctr">
                    <a:solidFill>
                      <a:srgbClr val="C00000"/>
                    </a:solidFill>
                  </a:tcPr>
                </a:tc>
                <a:tc>
                  <a:txBody>
                    <a:bodyPr/>
                    <a:lstStyle/>
                    <a:p>
                      <a:pPr algn="ctr"/>
                      <a:r>
                        <a:rPr sz="1700" b="1">
                          <a:solidFill>
                            <a:srgbClr val="FFFFFF"/>
                          </a:solidFill>
                          <a:latin typeface="Calibri"/>
                        </a:rPr>
                        <a:t>Exact algorithm</a:t>
                      </a:r>
                    </a:p>
                  </a:txBody>
                  <a:tcPr anchor="ctr">
                    <a:solidFill>
                      <a:srgbClr val="C00000"/>
                    </a:solidFill>
                  </a:tcPr>
                </a:tc>
                <a:tc>
                  <a:txBody>
                    <a:bodyPr/>
                    <a:lstStyle/>
                    <a:p>
                      <a:pPr algn="ctr"/>
                      <a:r>
                        <a:rPr sz="1700" b="1">
                          <a:solidFill>
                            <a:srgbClr val="FFFFFF"/>
                          </a:solidFill>
                          <a:latin typeface="Calibri"/>
                        </a:rPr>
                        <a:t>Approximation algorithm</a:t>
                      </a:r>
                    </a:p>
                  </a:txBody>
                  <a:tcPr anchor="ctr">
                    <a:solidFill>
                      <a:srgbClr val="C00000"/>
                    </a:solidFill>
                  </a:tcPr>
                </a:tc>
                <a:tc>
                  <a:txBody>
                    <a:bodyPr/>
                    <a:lstStyle/>
                    <a:p>
                      <a:pPr algn="ctr"/>
                      <a:r>
                        <a:rPr sz="1700" b="1">
                          <a:solidFill>
                            <a:srgbClr val="FFFFFF"/>
                          </a:solidFill>
                          <a:latin typeface="Calibri"/>
                        </a:rPr>
                        <a:t>Guarantee</a:t>
                      </a:r>
                    </a:p>
                  </a:txBody>
                  <a:tcPr anchor="ctr">
                    <a:solidFill>
                      <a:srgbClr val="C00000"/>
                    </a:solidFill>
                  </a:tcPr>
                </a:tc>
              </a:tr>
              <a:tr h="520000">
                <a:tc>
                  <a:txBody>
                    <a:bodyPr/>
                    <a:lstStyle/>
                    <a:p>
                      <a:pPr algn="ctr"/>
                      <a:r>
                        <a:rPr sz="1700">
                          <a:solidFill>
                            <a:srgbClr val="000000"/>
                          </a:solidFill>
                          <a:latin typeface="Calibri"/>
                        </a:rPr>
                        <a:t>Vertex Cover</a:t>
                      </a:r>
                    </a:p>
                  </a:txBody>
                  <a:tcPr anchor="ctr">
                    <a:solidFill>
                      <a:srgbClr val="FFFFFF"/>
                    </a:solidFill>
                  </a:tcPr>
                </a:tc>
                <a:tc>
                  <a:txBody>
                    <a:bodyPr/>
                    <a:lstStyle/>
                    <a:p>
                      <a:pPr algn="ctr"/>
                      <a:r>
                        <a:rPr sz="1700">
                          <a:solidFill>
                            <a:srgbClr val="000000"/>
                          </a:solidFill>
                          <a:latin typeface="Calibri"/>
                        </a:rPr>
                        <a:t>Branch and bound</a:t>
                      </a:r>
                    </a:p>
                  </a:txBody>
                  <a:tcPr anchor="ctr">
                    <a:solidFill>
                      <a:srgbClr val="FFFFFF"/>
                    </a:solidFill>
                  </a:tcPr>
                </a:tc>
                <a:tc>
                  <a:txBody>
                    <a:bodyPr/>
                    <a:lstStyle/>
                    <a:p>
                      <a:pPr algn="ctr"/>
                      <a:r>
                        <a:rPr sz="1700">
                          <a:solidFill>
                            <a:srgbClr val="000000"/>
                          </a:solidFill>
                          <a:latin typeface="Calibri"/>
                        </a:rPr>
                        <a:t>Maximal matching</a:t>
                      </a:r>
                    </a:p>
                  </a:txBody>
                  <a:tcPr anchor="ctr">
                    <a:solidFill>
                      <a:srgbClr val="FFFFFF"/>
                    </a:solidFill>
                  </a:tcPr>
                </a:tc>
                <a:tc>
                  <a:txBody>
                    <a:bodyPr/>
                    <a:lstStyle/>
                    <a:p>
                      <a:pPr algn="ctr"/>
                      <a:r>
                        <a:rPr sz="1700">
                          <a:solidFill>
                            <a:srgbClr val="000000"/>
                          </a:solidFill>
                          <a:latin typeface="Calibri"/>
                        </a:rPr>
                        <a:t>2 × OPT</a:t>
                      </a:r>
                    </a:p>
                  </a:txBody>
                  <a:tcPr anchor="ctr">
                    <a:solidFill>
                      <a:srgbClr val="FFFFFF"/>
                    </a:solidFill>
                  </a:tcPr>
                </a:tc>
              </a:tr>
              <a:tr h="520000">
                <a:tc>
                  <a:txBody>
                    <a:bodyPr/>
                    <a:lstStyle/>
                    <a:p>
                      <a:pPr algn="ctr"/>
                      <a:r>
                        <a:rPr sz="1700">
                          <a:solidFill>
                            <a:srgbClr val="000000"/>
                          </a:solidFill>
                          <a:latin typeface="Calibri"/>
                        </a:rPr>
                        <a:t>Set Cover</a:t>
                      </a:r>
                    </a:p>
                  </a:txBody>
                  <a:tcPr anchor="ctr">
                    <a:solidFill>
                      <a:srgbClr val="FFFFFF"/>
                    </a:solidFill>
                  </a:tcPr>
                </a:tc>
                <a:tc>
                  <a:txBody>
                    <a:bodyPr/>
                    <a:lstStyle/>
                    <a:p>
                      <a:pPr algn="ctr"/>
                      <a:r>
                        <a:rPr sz="1700">
                          <a:solidFill>
                            <a:srgbClr val="000000"/>
                          </a:solidFill>
                          <a:latin typeface="Calibri"/>
                        </a:rPr>
                        <a:t>Branch and bound</a:t>
                      </a:r>
                    </a:p>
                  </a:txBody>
                  <a:tcPr anchor="ctr">
                    <a:solidFill>
                      <a:srgbClr val="FFFFFF"/>
                    </a:solidFill>
                  </a:tcPr>
                </a:tc>
                <a:tc>
                  <a:txBody>
                    <a:bodyPr/>
                    <a:lstStyle/>
                    <a:p>
                      <a:pPr algn="ctr"/>
                      <a:r>
                        <a:rPr sz="1700">
                          <a:solidFill>
                            <a:srgbClr val="000000"/>
                          </a:solidFill>
                          <a:latin typeface="Calibri"/>
                        </a:rPr>
                        <a:t>Greedy (largest uncovered gain)</a:t>
                      </a:r>
                    </a:p>
                  </a:txBody>
                  <a:tcPr anchor="ctr">
                    <a:solidFill>
                      <a:srgbClr val="FFFFFF"/>
                    </a:solidFill>
                  </a:tcPr>
                </a:tc>
                <a:tc>
                  <a:txBody>
                    <a:bodyPr/>
                    <a:lstStyle/>
                    <a:p>
                      <a:pPr algn="ctr"/>
                      <a:r>
                        <a:rPr sz="1700">
                          <a:solidFill>
                            <a:srgbClr val="000000"/>
                          </a:solidFill>
                          <a:latin typeface="Calibri"/>
                        </a:rPr>
                        <a:t>H(n) ≈ ln n</a:t>
                      </a:r>
                    </a:p>
                  </a:txBody>
                  <a:tcPr anchor="ctr">
                    <a:solidFill>
                      <a:srgbClr val="FFFFFF"/>
                    </a:solidFill>
                  </a:tcPr>
                </a:tc>
              </a:tr>
              <a:tr h="520000">
                <a:tc>
                  <a:txBody>
                    <a:bodyPr/>
                    <a:lstStyle/>
                    <a:p>
                      <a:pPr algn="ctr"/>
                      <a:r>
                        <a:rPr sz="1700">
                          <a:solidFill>
                            <a:srgbClr val="000000"/>
                          </a:solidFill>
                          <a:latin typeface="Calibri"/>
                        </a:rPr>
                        <a:t>TSP</a:t>
                      </a:r>
                    </a:p>
                  </a:txBody>
                  <a:tcPr anchor="ctr">
                    <a:solidFill>
                      <a:srgbClr val="FFFFFF"/>
                    </a:solidFill>
                  </a:tcPr>
                </a:tc>
                <a:tc>
                  <a:txBody>
                    <a:bodyPr/>
                    <a:lstStyle/>
                    <a:p>
                      <a:pPr algn="ctr"/>
                      <a:r>
                        <a:rPr sz="1700">
                          <a:solidFill>
                            <a:srgbClr val="000000"/>
                          </a:solidFill>
                          <a:latin typeface="Calibri"/>
                        </a:rPr>
                        <a:t>Held-Karp DP (≤ 20 cities)</a:t>
                      </a:r>
                    </a:p>
                  </a:txBody>
                  <a:tcPr anchor="ctr">
                    <a:solidFill>
                      <a:srgbClr val="FFFFFF"/>
                    </a:solidFill>
                  </a:tcPr>
                </a:tc>
                <a:tc>
                  <a:txBody>
                    <a:bodyPr/>
                    <a:lstStyle/>
                    <a:p>
                      <a:pPr algn="ctr"/>
                      <a:r>
                        <a:rPr sz="1700">
                          <a:solidFill>
                            <a:srgbClr val="000000"/>
                          </a:solidFill>
                          <a:latin typeface="Calibri"/>
                        </a:rPr>
                        <a:t>MST doubling; Nearest Neighbor</a:t>
                      </a:r>
                    </a:p>
                  </a:txBody>
                  <a:tcPr anchor="ctr">
                    <a:solidFill>
                      <a:srgbClr val="FFFFFF"/>
                    </a:solidFill>
                  </a:tcPr>
                </a:tc>
                <a:tc>
                  <a:txBody>
                    <a:bodyPr/>
                    <a:lstStyle/>
                    <a:p>
                      <a:pPr algn="ctr"/>
                      <a:r>
                        <a:rPr sz="1700">
                          <a:solidFill>
                            <a:srgbClr val="000000"/>
                          </a:solidFill>
                          <a:latin typeface="Calibri"/>
                        </a:rPr>
                        <a:t>2 × OPT (metric)</a:t>
                      </a:r>
                    </a:p>
                  </a:txBody>
                  <a:tcPr anchor="ctr">
                    <a:solidFill>
                      <a:srgbClr val="FFFFFF"/>
                    </a:solidFill>
                  </a:tcPr>
                </a:tc>
              </a:tr>
              <a:tr h="520000">
                <a:tc>
                  <a:txBody>
                    <a:bodyPr/>
                    <a:lstStyle/>
                    <a:p>
                      <a:pPr algn="ctr"/>
                      <a:r>
                        <a:rPr sz="1700">
                          <a:solidFill>
                            <a:srgbClr val="000000"/>
                          </a:solidFill>
                          <a:latin typeface="Calibri"/>
                        </a:rPr>
                        <a:t>Bin Packing</a:t>
                      </a:r>
                    </a:p>
                  </a:txBody>
                  <a:tcPr anchor="ctr">
                    <a:solidFill>
                      <a:srgbClr val="FFFFFF"/>
                    </a:solidFill>
                  </a:tcPr>
                </a:tc>
                <a:tc>
                  <a:txBody>
                    <a:bodyPr/>
                    <a:lstStyle/>
                    <a:p>
                      <a:pPr algn="ctr"/>
                      <a:r>
                        <a:rPr sz="1700">
                          <a:solidFill>
                            <a:srgbClr val="000000"/>
                          </a:solidFill>
                          <a:latin typeface="Calibri"/>
                        </a:rPr>
                        <a:t>Branch and bound</a:t>
                      </a:r>
                    </a:p>
                  </a:txBody>
                  <a:tcPr anchor="ctr">
                    <a:solidFill>
                      <a:srgbClr val="FFFFFF"/>
                    </a:solidFill>
                  </a:tcPr>
                </a:tc>
                <a:tc>
                  <a:txBody>
                    <a:bodyPr/>
                    <a:lstStyle/>
                    <a:p>
                      <a:pPr algn="ctr"/>
                      <a:r>
                        <a:rPr sz="1700">
                          <a:solidFill>
                            <a:srgbClr val="000000"/>
                          </a:solidFill>
                          <a:latin typeface="Calibri"/>
                        </a:rPr>
                        <a:t>First Fit Decreasing</a:t>
                      </a:r>
                    </a:p>
                  </a:txBody>
                  <a:tcPr anchor="ctr">
                    <a:solidFill>
                      <a:srgbClr val="FFFFFF"/>
                    </a:solidFill>
                  </a:tcPr>
                </a:tc>
                <a:tc>
                  <a:txBody>
                    <a:bodyPr/>
                    <a:lstStyle/>
                    <a:p>
                      <a:pPr algn="ctr"/>
                      <a:r>
                        <a:rPr sz="1700">
                          <a:solidFill>
                            <a:srgbClr val="000000"/>
                          </a:solidFill>
                          <a:latin typeface="Calibri"/>
                        </a:rPr>
                        <a:t>11/9 · OPT + 6/9</a:t>
                      </a:r>
                    </a:p>
                  </a:txBody>
                  <a:tcPr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p:cNvSpPr/>
          <p:nvPr/>
        </p:nvSpPr>
        <p:spPr>
          <a:xfrm>
            <a:off x="2896000" y="221673"/>
            <a:ext cx="6400000"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Results: Scalability</a:t>
            </a:r>
          </a:p>
        </p:txBody>
      </p:sp>
      <p:sp>
        <p:nvSpPr>
          <p:cNvPr id="10" name="TextBox Intro"/>
          <p:cNvSpPr txBox="1"/>
          <p:nvPr/>
        </p:nvSpPr>
        <p:spPr>
          <a:xfrm>
            <a:off x="1000000" y="1050000"/>
            <a:ext cx="10192000" cy="9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Approximation algorithms were run at the maximum input sizes allowed by the project limits; every run finished far below the 10-second limit.</a:t>
            </a:r>
          </a:p>
        </p:txBody>
      </p:sp>
      <p:sp>
        <p:nvSpPr>
          <p:cNvPr id="11" name="TextBox Note"/>
          <p:cNvSpPr txBox="1"/>
          <p:nvPr/>
        </p:nvSpPr>
        <p:spPr>
          <a:xfrm>
            <a:off x="1000000" y="5000000"/>
            <a:ext cx="10192000" cy="1300000"/>
          </a:xfrm>
          <a:prstGeom prst="rect">
            <a:avLst/>
          </a:prstGeom>
          <a:noFill/>
        </p:spPr>
        <p:txBody>
          <a:bodyPr wrap="square" rtlCol="0">
            <a:normAutofit/>
          </a:bodyPr>
          <a:lstStyle/>
          <a:p>
            <a:pPr marL="342900" indent="-342900" algn="l">
              <a:lnSpc>
                <a:spcPct val="130000"/>
              </a:lnSpc>
              <a:spcAft>
                <a:spcPts val="0"/>
              </a:spcAft>
              <a:buFont typeface="Arial" pitchFamily="34" charset="0"/>
              <a:buChar char="•"/>
            </a:pPr>
            <a:r>
              <a:rPr lang="en-US" sz="2000" dirty="0">
                <a:solidFill>
                  <a:srgbClr val="000000"/>
                </a:solidFill>
                <a:latin typeface="Calibri" panose="020F0502020204030204" pitchFamily="34" charset="0"/>
              </a:rPr>
              <a:t>Set Cover greedy is the slowest because each step scans all subsets, but it still takes about 0.6 s at 5000 elements. Runtime for all four algorithms grows smoothly with input size, while exact algorithms become impractical beyond small instances.</a:t>
            </a:r>
          </a:p>
        </p:txBody>
      </p:sp>
      <p:graphicFrame>
        <p:nvGraphicFramePr>
          <p:cNvPr id="12" name="Chart 11"/>
          <p:cNvGraphicFramePr>
            <a:graphicFrameLocks noGrp="1"/>
          </p:cNvGraphicFramePr>
          <p:nvPr/>
        </p:nvGraphicFramePr>
        <p:xfrm>
          <a:off x="1000000" y="2000000"/>
          <a:ext cx="10192000" cy="29000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Title"/>
          <p:cNvSpPr txBox="1"/>
          <p:nvPr/>
        </p:nvSpPr>
        <p:spPr>
          <a:xfrm>
            <a:off x="3547840" y="302403"/>
            <a:ext cx="6871855" cy="523220"/>
          </a:xfrm>
          <a:prstGeom prst="rect">
            <a:avLst/>
          </a:prstGeom>
          <a:noFill/>
        </p:spPr>
        <p:txBody>
          <a:bodyPr wrap="square" rtlCol="0">
            <a:spAutoFit/>
          </a:bodyPr>
          <a:lstStyle/>
          <a:p>
            <a:pPr algn="ctr"/>
            <a:r>
              <a:rPr lang="en-US" sz="3200" b="1" dirty="0">
                <a:solidFill>
                  <a:schemeClr val="bg1"/>
                </a:solidFill>
              </a:rPr>
              <a:t>Hardware and Software requirements</a:t>
            </a:r>
          </a:p>
        </p:txBody>
      </p:sp>
      <p:sp>
        <p:nvSpPr>
          <p:cNvPr id="10" name="TextBox Body"/>
          <p:cNvSpPr txBox="1"/>
          <p:nvPr/>
        </p:nvSpPr>
        <p:spPr>
          <a:xfrm>
            <a:off x="1000000" y="1050000"/>
            <a:ext cx="10192000" cy="5400000"/>
          </a:xfrm>
          <a:prstGeom prst="rect">
            <a:avLst/>
          </a:prstGeom>
          <a:noFill/>
        </p:spPr>
        <p:txBody>
          <a:bodyPr wrap="square" rtlCol="0">
            <a:normAutofit/>
          </a:bodyPr>
          <a:lstStyle/>
          <a:p>
            <a:pPr marL="0" indent="0" algn="l">
              <a:lnSpc>
                <a:spcPct val="130000"/>
              </a:lnSpc>
              <a:spcAft>
                <a:spcPts val="600"/>
              </a:spcAft>
              <a:buNone/>
            </a:pPr>
            <a:r>
              <a:rPr lang="en-US" sz="2200" b="1" dirty="0">
                <a:solidFill>
                  <a:srgbClr val="000000"/>
                </a:solidFill>
                <a:latin typeface="Calibri" panose="020F0502020204030204" pitchFamily="34" charset="0"/>
              </a:rPr>
              <a:t>Hardware Requirements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Processor: Intel i3 or higher</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RAM: 4 GB or more</a:t>
            </a:r>
          </a:p>
          <a:p>
            <a:pPr marL="342900" indent="-342900" algn="l">
              <a:lnSpc>
                <a:spcPct val="130000"/>
              </a:lnSpc>
              <a:spcAft>
                <a:spcPts val="1600"/>
              </a:spcAft>
              <a:buFont typeface="Arial" pitchFamily="34" charset="0"/>
              <a:buChar char="•"/>
            </a:pPr>
            <a:r>
              <a:rPr lang="en-US" sz="2000" dirty="0">
                <a:solidFill>
                  <a:srgbClr val="000000"/>
                </a:solidFill>
                <a:latin typeface="Calibri" panose="020F0502020204030204" pitchFamily="34" charset="0"/>
              </a:rPr>
              <a:t>Storage: 500 MB free disk space</a:t>
            </a:r>
          </a:p>
          <a:p>
            <a:pPr marL="0" indent="0" algn="l">
              <a:lnSpc>
                <a:spcPct val="130000"/>
              </a:lnSpc>
              <a:spcAft>
                <a:spcPts val="600"/>
              </a:spcAft>
              <a:buNone/>
            </a:pPr>
            <a:r>
              <a:rPr lang="en-US" sz="2200" b="1" dirty="0">
                <a:solidFill>
                  <a:srgbClr val="000000"/>
                </a:solidFill>
                <a:latin typeface="Calibri" panose="020F0502020204030204" pitchFamily="34" charset="0"/>
              </a:rPr>
              <a:t>Software Requirements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Operating System: Windows, Linux or macOS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Programming Language: Python</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IDE: VS Code / PyCharm</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Libraries: NetworkX (graphs), Matplotlib (performance graphs), Tkinter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2" name="TextBox Body"/>
          <p:cNvSpPr txBox="1"/>
          <p:nvPr/>
        </p:nvSpPr>
        <p:spPr>
          <a:xfrm>
            <a:off x="1000000" y="1050000"/>
            <a:ext cx="10192000" cy="54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project implements exact and approximation algorithms for Vertex Cover, Set Cover, TSP and Bin Packing in one interactive toolkit.</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In the experiments, average approximation ratios ranged from 1.04 to 1.46, well below the proven worst-case guarantees.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Approximation algorithms solved the largest allowed instances in under a second, while exact TSP time grew rapidly, from 0.4 ms at 8 cities to 172 ms at 15 cities.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graphical reports make the trade-off between running time and solution quality easy to see for different input sizes.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The toolkit is useful for teaching NP-completeness and for choosing a suitable algorithm when exact solutions are too expensive.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Title"/>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Future Scope</a:t>
            </a:r>
          </a:p>
        </p:txBody>
      </p:sp>
      <p:sp>
        <p:nvSpPr>
          <p:cNvPr id="2" name="TextBox Body"/>
          <p:cNvSpPr txBox="1"/>
          <p:nvPr/>
        </p:nvSpPr>
        <p:spPr>
          <a:xfrm>
            <a:off x="1000000" y="1050000"/>
            <a:ext cx="10192000" cy="5400000"/>
          </a:xfrm>
          <a:prstGeom prst="rect">
            <a:avLst/>
          </a:prstGeom>
          <a:noFill/>
        </p:spPr>
        <p:txBody>
          <a:bodyPr wrap="square" rtlCol="0">
            <a:normAutofit/>
          </a:bodyPr>
          <a:lstStyle/>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Add more NP-complete problems such as Knapsack, Graph Coloring, Max-Cut and 3-SAT.</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Add stronger algorithms, for example Christofides for TSP and LP-rounding for Vertex Cover and Set Cover.</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Compare heuristics such as 2-opt and simulated annealing against the approximation algorithms.</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Build a web-based interface and test on real datasets such as road networks and logistics data.</a:t>
            </a:r>
          </a:p>
          <a:p>
            <a:pPr marL="342900" indent="-342900" algn="l">
              <a:lnSpc>
                <a:spcPct val="130000"/>
              </a:lnSpc>
              <a:spcAft>
                <a:spcPts val="1200"/>
              </a:spcAft>
              <a:buFont typeface="Arial" pitchFamily="34" charset="0"/>
              <a:buChar char="•"/>
            </a:pPr>
            <a:r>
              <a:rPr lang="en-US" sz="2000" dirty="0">
                <a:solidFill>
                  <a:srgbClr val="000000"/>
                </a:solidFill>
                <a:latin typeface="Calibri" panose="020F0502020204030204" pitchFamily="34" charset="0"/>
              </a:rPr>
              <a:t>Use integer-programming solvers and parallel processing to extend exact solutions to larger instances.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909</Words>
  <Application>Microsoft Office PowerPoint</Application>
  <PresentationFormat>Widescreen</PresentationFormat>
  <Paragraphs>96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 NETWORK FLOW OPTIMIZATION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uppu sonu</cp:lastModifiedBy>
  <cp:revision>20</cp:revision>
  <dcterms:created xsi:type="dcterms:W3CDTF">2024-08-29T05:25:00Z</dcterms:created>
  <dcterms:modified xsi:type="dcterms:W3CDTF">2026-08-28T08:50:43Z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